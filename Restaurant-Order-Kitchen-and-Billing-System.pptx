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17.fntdata" ContentType="application/x-fontdata"/>
  <Override PartName="/ppt/fonts/font18.fntdata" ContentType="application/x-fontdata"/>
  <Override PartName="/ppt/fonts/font19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</p:sldIdLst>
  <p:sldSz cx="12191365" cy="6858000"/>
  <p:notesSz cx="6858000" cy="12191365"/>
  <p:embeddedFontLst>
    <p:embeddedFont>
      <p:font typeface="Michroma" pitchFamily="34" charset="0"/>
      <p:regular r:id="rId14"/>
    </p:embeddedFont>
    <p:embeddedFont>
      <p:font typeface="Michroma" pitchFamily="34" charset="-122"/>
      <p:regular r:id="rId15"/>
    </p:embeddedFont>
    <p:embeddedFont>
      <p:font typeface="Michroma" pitchFamily="34" charset="-120"/>
      <p:regular r:id="rId16"/>
    </p:embeddedFont>
    <p:embeddedFont>
      <p:font typeface="Exo SemiBold" pitchFamily="34" charset="0"/>
      <p:bold r:id="rId17"/>
    </p:embeddedFont>
    <p:embeddedFont>
      <p:font typeface="Exo SemiBold" pitchFamily="34" charset="-122"/>
      <p:bold r:id="rId18"/>
    </p:embeddedFont>
    <p:embeddedFont>
      <p:font typeface="Exo SemiBold" pitchFamily="34" charset="-120"/>
      <p:bold r:id="rId19"/>
    </p:embeddedFont>
    <p:embeddedFont>
      <p:font typeface="Exo" pitchFamily="34" charset="0"/>
      <p:regular r:id="rId20"/>
    </p:embeddedFont>
    <p:embeddedFont>
      <p:font typeface="Exo" pitchFamily="34" charset="-122"/>
      <p:regular r:id="rId21"/>
    </p:embeddedFont>
    <p:embeddedFont>
      <p:font typeface="Exo" pitchFamily="34" charset="-120"/>
      <p:regular r:id="rId22"/>
    </p:embeddedFont>
    <p:embeddedFont>
      <p:font typeface="Fira Mono Medium" panose="020B0609050000020004" pitchFamily="34" charset="0"/>
      <p:regular r:id="rId23"/>
    </p:embeddedFont>
    <p:embeddedFont>
      <p:font typeface="Fira Mono Medium" panose="020B0609050000020004" pitchFamily="34" charset="-122"/>
      <p:regular r:id="rId24"/>
    </p:embeddedFont>
    <p:embeddedFont>
      <p:font typeface="Fira Mono Medium" panose="020B0609050000020004" pitchFamily="34" charset="-120"/>
      <p:regular r:id="rId25"/>
    </p:embeddedFont>
    <p:embeddedFont>
      <p:font typeface="Fira Mono" panose="020B0509050000020004" pitchFamily="34" charset="0"/>
      <p:regular r:id="rId26"/>
    </p:embeddedFont>
    <p:embeddedFont>
      <p:font typeface="Fira Mono" panose="020B0509050000020004" pitchFamily="34" charset="-122"/>
      <p:regular r:id="rId27"/>
    </p:embeddedFont>
    <p:embeddedFont>
      <p:font typeface="Fira Mono" panose="020B0509050000020004" pitchFamily="34" charset="-120"/>
      <p:regular r:id="rId28"/>
    </p:embeddedFont>
    <p:embeddedFont>
      <p:font typeface="Calibri" panose="020F0502020204030204" charset="0"/>
      <p:regular r:id="rId29"/>
      <p:bold r:id="rId30"/>
      <p:italic r:id="rId31"/>
      <p:boldItalic r:id="rId3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2" Type="http://schemas.openxmlformats.org/officeDocument/2006/relationships/font" Target="fonts/font19.fntdata"/><Relationship Id="rId31" Type="http://schemas.openxmlformats.org/officeDocument/2006/relationships/font" Target="fonts/font18.fntdata"/><Relationship Id="rId30" Type="http://schemas.openxmlformats.org/officeDocument/2006/relationships/font" Target="fonts/font17.fntdata"/><Relationship Id="rId3" Type="http://schemas.openxmlformats.org/officeDocument/2006/relationships/slide" Target="slides/slide1.xml"/><Relationship Id="rId29" Type="http://schemas.openxmlformats.org/officeDocument/2006/relationships/font" Target="fonts/font16.fntdata"/><Relationship Id="rId28" Type="http://schemas.openxmlformats.org/officeDocument/2006/relationships/font" Target="fonts/font15.fntdata"/><Relationship Id="rId27" Type="http://schemas.openxmlformats.org/officeDocument/2006/relationships/font" Target="fonts/font14.fntdata"/><Relationship Id="rId26" Type="http://schemas.openxmlformats.org/officeDocument/2006/relationships/font" Target="fonts/font13.fntdata"/><Relationship Id="rId25" Type="http://schemas.openxmlformats.org/officeDocument/2006/relationships/font" Target="fonts/font12.fntdata"/><Relationship Id="rId24" Type="http://schemas.openxmlformats.org/officeDocument/2006/relationships/font" Target="fonts/font11.fntdata"/><Relationship Id="rId23" Type="http://schemas.openxmlformats.org/officeDocument/2006/relationships/font" Target="fonts/font10.fntdata"/><Relationship Id="rId22" Type="http://schemas.openxmlformats.org/officeDocument/2006/relationships/font" Target="fonts/font9.fntdata"/><Relationship Id="rId21" Type="http://schemas.openxmlformats.org/officeDocument/2006/relationships/font" Target="fonts/font8.fntdata"/><Relationship Id="rId20" Type="http://schemas.openxmlformats.org/officeDocument/2006/relationships/font" Target="fonts/font7.fntdata"/><Relationship Id="rId2" Type="http://schemas.openxmlformats.org/officeDocument/2006/relationships/theme" Target="theme/theme1.xml"/><Relationship Id="rId19" Type="http://schemas.openxmlformats.org/officeDocument/2006/relationships/font" Target="fonts/font6.fntdata"/><Relationship Id="rId18" Type="http://schemas.openxmlformats.org/officeDocument/2006/relationships/font" Target="fonts/font5.fntdata"/><Relationship Id="rId17" Type="http://schemas.openxmlformats.org/officeDocument/2006/relationships/font" Target="fonts/font4.fntdata"/><Relationship Id="rId16" Type="http://schemas.openxmlformats.org/officeDocument/2006/relationships/font" Target="fonts/font3.fntdata"/><Relationship Id="rId15" Type="http://schemas.openxmlformats.org/officeDocument/2006/relationships/font" Target="fonts/font2.fntdata"/><Relationship Id="rId14" Type="http://schemas.openxmlformats.org/officeDocument/2006/relationships/font" Target="fonts/font1.fntdata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as a Java-based restaurant management application. Name the two presenters, the course, the course code, and Project No. 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complete abstract, then explain the manual-ordering context and the seven project objectives.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every manual-system weakness with the proposed computerized approach, then close on the three-part conclusion: Simple, Fast, Accurate.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the implementation to all three course outcomes: structured problem solving and Java foundations, selection and iteration, and arrays with data processing.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every numbered algorithm step. The flowchart validates service type, rejects unavailable items, loops for another item until number &gt; 18, then generates the bill, displays the order and total, shows confirmation, and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020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8000"/>
            </a:srgbClr>
          </a:solidFill>
        </p:spPr>
      </p:sp>
      <p:pic>
        <p:nvPicPr>
          <p:cNvPr id="6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020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609600"/>
            <a:ext cx="11480513" cy="1980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0" spc="192" dirty="0">
                <a:solidFill>
                  <a:srgbClr val="FFFFFF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JAVA APPLICATION · PROJECT 15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60383" y="1144191"/>
            <a:ext cx="10870928" cy="105985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3900" kern="0" spc="-47" dirty="0">
                <a:solidFill>
                  <a:srgbClr val="FFFFFF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Restaurant Order,</a:t>
            </a:r>
            <a:endParaRPr lang="en-US" sz="3900" dirty="0"/>
          </a:p>
          <a:p>
            <a:pPr marL="0" indent="0" algn="l">
              <a:lnSpc>
                <a:spcPct val="89000"/>
              </a:lnSpc>
              <a:buNone/>
            </a:pPr>
            <a:r>
              <a:rPr lang="en-US" sz="3900" kern="0" spc="-47" dirty="0">
                <a:solidFill>
                  <a:srgbClr val="FFFFFF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Kitchen &amp; Billing System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660383" y="2381845"/>
            <a:ext cx="10870928" cy="3184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A Java-based restaurant management application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60383" y="5003602"/>
            <a:ext cx="2717633" cy="31651"/>
          </a:xfrm>
          <a:prstGeom prst="roundRect">
            <a:avLst>
              <a:gd name="adj" fmla="val 49998"/>
            </a:avLst>
          </a:prstGeom>
          <a:solidFill>
            <a:srgbClr val="9BE1FF"/>
          </a:solidFill>
        </p:spPr>
      </p:sp>
      <p:sp>
        <p:nvSpPr>
          <p:cNvPr id="6" name="Text 4"/>
          <p:cNvSpPr/>
          <p:nvPr/>
        </p:nvSpPr>
        <p:spPr>
          <a:xfrm>
            <a:off x="660383" y="5386189"/>
            <a:ext cx="4348351" cy="1815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0" spc="93" dirty="0">
                <a:solidFill>
                  <a:srgbClr val="FFFFFF"/>
                </a:solidFill>
                <a:latin typeface="Fira Mono Medium" panose="020B0609050000020004" pitchFamily="34" charset="0"/>
                <a:ea typeface="Fira Mono Medium" panose="020B0609050000020004" pitchFamily="34" charset="-122"/>
                <a:cs typeface="Fira Mono Medium" panose="020B0609050000020004" pitchFamily="34" charset="-120"/>
              </a:rPr>
              <a:t>PROJECT PRESENTED BY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0383" y="5682059"/>
            <a:ext cx="4119757" cy="5409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Tallapragada Piyush Sreeniketh (2620040032)</a:t>
            </a:r>
            <a:endParaRPr lang="en-US" sz="15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Pallikkal Pranav Nair (2620040005)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237329" y="5386189"/>
            <a:ext cx="3032644" cy="1815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0" spc="93" dirty="0">
                <a:solidFill>
                  <a:srgbClr val="FFFFFF"/>
                </a:solidFill>
                <a:latin typeface="Fira Mono Medium" panose="020B0609050000020004" pitchFamily="34" charset="0"/>
                <a:ea typeface="Fira Mono Medium" panose="020B0609050000020004" pitchFamily="34" charset="-122"/>
                <a:cs typeface="Fira Mono Medium" panose="020B0609050000020004" pitchFamily="34" charset="-120"/>
              </a:rPr>
              <a:t>COURSE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237329" y="5682059"/>
            <a:ext cx="2804050" cy="5409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Problem Solving Using Programming (Java)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498568" y="5386189"/>
            <a:ext cx="3032644" cy="1815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0" spc="93" dirty="0">
                <a:solidFill>
                  <a:srgbClr val="FFFFFF"/>
                </a:solidFill>
                <a:latin typeface="Fira Mono Medium" panose="020B0609050000020004" pitchFamily="34" charset="0"/>
                <a:ea typeface="Fira Mono Medium" panose="020B0609050000020004" pitchFamily="34" charset="-122"/>
                <a:cs typeface="Fira Mono Medium" panose="020B0609050000020004" pitchFamily="34" charset="-120"/>
              </a:rPr>
              <a:t>COURSE CODE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98568" y="5682059"/>
            <a:ext cx="3032644" cy="5409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26</a:t>
            </a:r>
            <a:r>
              <a:rPr lang="en-IN" altLang="en-US" sz="150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SC</a:t>
            </a:r>
            <a:r>
              <a:rPr lang="en-US" sz="150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1101</a:t>
            </a:r>
            <a:r>
              <a:rPr lang="en-IN" altLang="en-US" sz="150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E</a:t>
            </a:r>
            <a:endParaRPr lang="en-US" sz="15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Projec</a:t>
            </a:r>
            <a:r>
              <a:rPr lang="en-IN" altLang="en-US" sz="150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t </a:t>
            </a:r>
            <a:r>
              <a:rPr lang="en-US" sz="150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15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02385" y="5259189"/>
            <a:ext cx="12700" cy="1090811"/>
          </a:xfrm>
          <a:prstGeom prst="rect">
            <a:avLst/>
          </a:prstGeom>
          <a:solidFill>
            <a:srgbClr val="3F3F3F"/>
          </a:solidFill>
        </p:spPr>
      </p:sp>
      <p:sp>
        <p:nvSpPr>
          <p:cNvPr id="13" name="Shape 11"/>
          <p:cNvSpPr/>
          <p:nvPr/>
        </p:nvSpPr>
        <p:spPr>
          <a:xfrm>
            <a:off x="8263624" y="5259189"/>
            <a:ext cx="12700" cy="1090811"/>
          </a:xfrm>
          <a:prstGeom prst="rect">
            <a:avLst/>
          </a:prstGeom>
          <a:solidFill>
            <a:srgbClr val="3F3F3F"/>
          </a:solidFill>
        </p:spPr>
      </p:sp>
      <p:sp>
        <p:nvSpPr>
          <p:cNvPr id="15" name="Rectangle 14"/>
          <p:cNvSpPr/>
          <p:nvPr/>
        </p:nvSpPr>
        <p:spPr>
          <a:xfrm>
            <a:off x="10946130" y="5681980"/>
            <a:ext cx="1219200" cy="117602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4185" y="457200"/>
            <a:ext cx="11607510" cy="1815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0" spc="93" dirty="0">
                <a:solidFill>
                  <a:srgbClr val="B5B5B5"/>
                </a:solidFill>
                <a:latin typeface="Fira Mono Medium" panose="020B0609050000020004" pitchFamily="34" charset="0"/>
                <a:ea typeface="Fira Mono Medium" panose="020B0609050000020004" pitchFamily="34" charset="-122"/>
                <a:cs typeface="Fira Mono Medium" panose="020B0609050000020004" pitchFamily="34" charset="-120"/>
              </a:rPr>
              <a:t>ABSTRACT &amp; INTRODUCTION ·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84185" y="718145"/>
            <a:ext cx="11023324" cy="42118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3100" kern="0" spc="-37" dirty="0">
                <a:solidFill>
                  <a:srgbClr val="ECECEC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Abstract &amp; Introduction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84185" y="1437779"/>
            <a:ext cx="5941665" cy="1980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0" spc="192" dirty="0">
                <a:solidFill>
                  <a:srgbClr val="D5D5D5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ABSTRACT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84185" y="1778695"/>
            <a:ext cx="5941665" cy="19470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The Restaurant Order, Kitchen &amp; Billing System is a Java-based application designed to simplify the process of managing customer orders in a restaurant. The system allows users to select food items, enter quantities, choose between Dine-In or Takeaway, maintain the order, and automatically calculate the total bill. The project demonstrates the application of fundamental programming concepts such as arrays, selection statements, switch, input, and arithmetic operations to solve a real-world problem.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84185" y="3903563"/>
            <a:ext cx="5941665" cy="1980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0" spc="192" dirty="0">
                <a:solidFill>
                  <a:srgbClr val="D5D5D5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84185" y="4244479"/>
            <a:ext cx="5941665" cy="97353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In a traditional restaurant or tiffin centre, taking orders and calculating bills manually can require additional time and may lead to calculation errors. The proposed system provides a simple computerized approach for handling customer orders.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135436" y="1437779"/>
            <a:ext cx="4472074" cy="1980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0" spc="192" dirty="0">
                <a:solidFill>
                  <a:srgbClr val="D5D5D5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35436" y="1778695"/>
            <a:ext cx="4472074" cy="21980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Display the available menu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Allow Dine-In or Takeaway selection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Accept food-item choices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Allow multiple items to be added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Maintain the order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Calculate the total bill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Display the final bill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24293" y="1336179"/>
            <a:ext cx="12700" cy="5140821"/>
          </a:xfrm>
          <a:prstGeom prst="rect">
            <a:avLst/>
          </a:prstGeom>
          <a:solidFill>
            <a:srgbClr val="3F3F3F"/>
          </a:solidFill>
        </p:spPr>
      </p:sp>
      <p:sp>
        <p:nvSpPr>
          <p:cNvPr id="11" name="Rectangle 10"/>
          <p:cNvSpPr/>
          <p:nvPr/>
        </p:nvSpPr>
        <p:spPr>
          <a:xfrm>
            <a:off x="10532110" y="5826125"/>
            <a:ext cx="1634490" cy="103187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06400"/>
            <a:ext cx="11632909" cy="1815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0" spc="93" dirty="0">
                <a:solidFill>
                  <a:srgbClr val="B5B5B5"/>
                </a:solidFill>
                <a:latin typeface="Fira Mono Medium" panose="020B0609050000020004" pitchFamily="34" charset="0"/>
                <a:ea typeface="Fira Mono Medium" panose="020B0609050000020004" pitchFamily="34" charset="-122"/>
                <a:cs typeface="Fira Mono Medium" panose="020B0609050000020004" pitchFamily="34" charset="-120"/>
              </a:rPr>
              <a:t>SYSTEM COMPARISON ·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58786" y="667345"/>
            <a:ext cx="11074123" cy="4075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3000" kern="0" spc="-36" dirty="0">
                <a:solidFill>
                  <a:srgbClr val="ECECEC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Existing System vs Proposed System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58786" y="1398786"/>
            <a:ext cx="5257668" cy="1980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0" spc="192" dirty="0">
                <a:solidFill>
                  <a:srgbClr val="D5D5D5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EXISTING SYSTEM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58786" y="1739702"/>
            <a:ext cx="5257668" cy="15555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Food orders are recorded manually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Communication between customer and staff is manual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Bill calculation may require manual effort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Tracking the status of an order is difficult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Managing multiple orders becomes inconvenient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58786" y="3473053"/>
            <a:ext cx="5257668" cy="1980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0" spc="192" dirty="0">
                <a:solidFill>
                  <a:srgbClr val="D5D5D5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58786" y="3813969"/>
            <a:ext cx="5257668" cy="123428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Time-consuming process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Possibility of calculation errors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Difficult to manage repeated items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Less organized order management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75241" y="1398786"/>
            <a:ext cx="5257668" cy="1980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0" spc="192" dirty="0">
                <a:solidFill>
                  <a:srgbClr val="D5D5D5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PROPOSED SYSTEM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75241" y="1739702"/>
            <a:ext cx="5257668" cy="15555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Menu display with prices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Service selection (Dine-In / Takeaway)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Item selection and order management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Automatic billing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Final bill generation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75241" y="5479752"/>
            <a:ext cx="1734896" cy="31651"/>
          </a:xfrm>
          <a:prstGeom prst="roundRect">
            <a:avLst>
              <a:gd name="adj" fmla="val 49998"/>
            </a:avLst>
          </a:prstGeom>
          <a:solidFill>
            <a:srgbClr val="9BE1FF"/>
          </a:solidFill>
        </p:spPr>
      </p:sp>
      <p:sp>
        <p:nvSpPr>
          <p:cNvPr id="11" name="Text 9"/>
          <p:cNvSpPr/>
          <p:nvPr/>
        </p:nvSpPr>
        <p:spPr>
          <a:xfrm>
            <a:off x="6375241" y="5735340"/>
            <a:ext cx="5257668" cy="1980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0" spc="192" dirty="0">
                <a:solidFill>
                  <a:srgbClr val="D5D5D5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75241" y="6076255"/>
            <a:ext cx="5257668" cy="3245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Simple • Fast • Accurate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089498" y="1271786"/>
            <a:ext cx="12700" cy="5230614"/>
          </a:xfrm>
          <a:prstGeom prst="rect">
            <a:avLst/>
          </a:prstGeom>
          <a:solidFill>
            <a:srgbClr val="3F3F3F"/>
          </a:solidFill>
        </p:spPr>
      </p:sp>
      <p:sp>
        <p:nvSpPr>
          <p:cNvPr id="14" name="Text 12"/>
          <p:cNvSpPr/>
          <p:nvPr/>
        </p:nvSpPr>
        <p:spPr>
          <a:xfrm>
            <a:off x="11400743" y="6458545"/>
            <a:ext cx="790952" cy="18930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kern="0" spc="84" dirty="0">
                <a:solidFill>
                  <a:srgbClr val="9D9D9D"/>
                </a:solidFill>
                <a:latin typeface="Fira Mono" panose="020B0509050000020004" pitchFamily="34" charset="0"/>
                <a:ea typeface="Fira Mono" panose="020B0509050000020004" pitchFamily="34" charset="-122"/>
                <a:cs typeface="Fira Mono" panose="020B0509050000020004" pitchFamily="34" charset="-120"/>
              </a:rPr>
              <a:t>03</a:t>
            </a:r>
            <a:endParaRPr lang="en-US" sz="1050" dirty="0"/>
          </a:p>
        </p:txBody>
      </p:sp>
      <p:sp>
        <p:nvSpPr>
          <p:cNvPr id="15" name="Rectangle 14"/>
          <p:cNvSpPr/>
          <p:nvPr/>
        </p:nvSpPr>
        <p:spPr>
          <a:xfrm>
            <a:off x="10486390" y="5933440"/>
            <a:ext cx="1705610" cy="9144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31800"/>
            <a:ext cx="11632909" cy="1815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0" spc="93" dirty="0">
                <a:solidFill>
                  <a:srgbClr val="B5B5B5"/>
                </a:solidFill>
                <a:latin typeface="Fira Mono Medium" panose="020B0609050000020004" pitchFamily="34" charset="0"/>
                <a:ea typeface="Fira Mono Medium" panose="020B0609050000020004" pitchFamily="34" charset="-122"/>
                <a:cs typeface="Fira Mono Medium" panose="020B0609050000020004" pitchFamily="34" charset="-120"/>
              </a:rPr>
              <a:t>COURSE OUTCOMES ·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58786" y="692745"/>
            <a:ext cx="11074123" cy="4075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3000" kern="0" spc="-36" dirty="0">
                <a:solidFill>
                  <a:srgbClr val="ECECEC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CO Attainments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58786" y="1297186"/>
            <a:ext cx="3691341" cy="5205214"/>
          </a:xfrm>
          <a:custGeom>
            <a:avLst/>
            <a:gdLst/>
            <a:ahLst/>
            <a:cxnLst/>
            <a:rect l="l" t="t" r="r" b="b"/>
            <a:pathLst>
              <a:path w="3691341" h="5205214">
                <a:moveTo>
                  <a:pt x="9525" y="0"/>
                </a:moveTo>
                <a:lnTo>
                  <a:pt x="3691341" y="0"/>
                </a:lnTo>
                <a:lnTo>
                  <a:pt x="3691341" y="5205214"/>
                </a:lnTo>
                <a:lnTo>
                  <a:pt x="9525" y="5205214"/>
                </a:lnTo>
                <a:arcTo wR="9525" hR="9525" stAng="5400000" swAng="5400000"/>
                <a:lnTo>
                  <a:pt x="0" y="9525"/>
                </a:lnTo>
                <a:arcTo wR="9525" hR="9525" stAng="10800000" swAng="5400000"/>
                <a:close/>
              </a:path>
            </a:pathLst>
          </a:custGeom>
          <a:solidFill>
            <a:srgbClr val="1A1A1A"/>
          </a:solidFill>
        </p:spPr>
      </p:sp>
      <p:sp>
        <p:nvSpPr>
          <p:cNvPr id="5" name="Text 3"/>
          <p:cNvSpPr/>
          <p:nvPr/>
        </p:nvSpPr>
        <p:spPr>
          <a:xfrm>
            <a:off x="812780" y="1525786"/>
            <a:ext cx="3437348" cy="1815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0" spc="93" dirty="0">
                <a:solidFill>
                  <a:srgbClr val="D5D5D5"/>
                </a:solidFill>
                <a:latin typeface="Fira Mono Medium" panose="020B0609050000020004" pitchFamily="34" charset="0"/>
                <a:ea typeface="Fira Mono Medium" panose="020B0609050000020004" pitchFamily="34" charset="-122"/>
                <a:cs typeface="Fira Mono Medium" panose="020B0609050000020004" pitchFamily="34" charset="-120"/>
              </a:rPr>
              <a:t>CO1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12780" y="1786731"/>
            <a:ext cx="3183354" cy="109696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kern="0" spc="216" dirty="0">
                <a:solidFill>
                  <a:srgbClr val="D5D5D5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PROBLEM SOLVING AND JAVA FOUNDATIONS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12780" y="3072606"/>
            <a:ext cx="397758" cy="31651"/>
          </a:xfrm>
          <a:prstGeom prst="roundRect">
            <a:avLst>
              <a:gd name="adj" fmla="val 49998"/>
            </a:avLst>
          </a:prstGeom>
          <a:solidFill>
            <a:srgbClr val="9BE1FF"/>
          </a:solidFill>
        </p:spPr>
      </p:sp>
      <p:sp>
        <p:nvSpPr>
          <p:cNvPr id="8" name="Text 6"/>
          <p:cNvSpPr/>
          <p:nvPr/>
        </p:nvSpPr>
        <p:spPr>
          <a:xfrm>
            <a:off x="812780" y="3264694"/>
            <a:ext cx="3183354" cy="14031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Converts a real-world problem into a structured program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Uses primitive data types, variables, expressions and console I/O for input and output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50127" y="1297186"/>
            <a:ext cx="3691341" cy="5205214"/>
          </a:xfrm>
          <a:prstGeom prst="rect">
            <a:avLst/>
          </a:prstGeom>
          <a:solidFill>
            <a:srgbClr val="262626"/>
          </a:solidFill>
        </p:spPr>
      </p:sp>
      <p:sp>
        <p:nvSpPr>
          <p:cNvPr id="10" name="Text 8"/>
          <p:cNvSpPr/>
          <p:nvPr/>
        </p:nvSpPr>
        <p:spPr>
          <a:xfrm>
            <a:off x="4504121" y="1525786"/>
            <a:ext cx="3437348" cy="1815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0" spc="93" dirty="0">
                <a:solidFill>
                  <a:srgbClr val="FFFFFF"/>
                </a:solidFill>
                <a:latin typeface="Fira Mono Medium" panose="020B0609050000020004" pitchFamily="34" charset="0"/>
                <a:ea typeface="Fira Mono Medium" panose="020B0609050000020004" pitchFamily="34" charset="-122"/>
                <a:cs typeface="Fira Mono Medium" panose="020B0609050000020004" pitchFamily="34" charset="-120"/>
              </a:rPr>
              <a:t>CO2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04121" y="1786731"/>
            <a:ext cx="3183354" cy="54848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kern="0" spc="216" dirty="0">
                <a:solidFill>
                  <a:srgbClr val="FFFFFF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SELECTION AND ITERATION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04121" y="2524125"/>
            <a:ext cx="397758" cy="31651"/>
          </a:xfrm>
          <a:prstGeom prst="roundRect">
            <a:avLst>
              <a:gd name="adj" fmla="val 49998"/>
            </a:avLst>
          </a:prstGeom>
          <a:solidFill>
            <a:srgbClr val="9BE1FF"/>
          </a:solidFill>
        </p:spPr>
      </p:sp>
      <p:sp>
        <p:nvSpPr>
          <p:cNvPr id="13" name="Text 11"/>
          <p:cNvSpPr/>
          <p:nvPr/>
        </p:nvSpPr>
        <p:spPr>
          <a:xfrm>
            <a:off x="4504121" y="2716213"/>
            <a:ext cx="3183354" cy="14539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Uses switch for service selection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Uses if-else for validation and order type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Uses do-while loop for multiple item ordering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941469" y="1297186"/>
            <a:ext cx="3691440" cy="5205214"/>
          </a:xfrm>
          <a:custGeom>
            <a:avLst/>
            <a:gdLst/>
            <a:ahLst/>
            <a:cxnLst/>
            <a:rect l="l" t="t" r="r" b="b"/>
            <a:pathLst>
              <a:path w="3691440" h="5205214">
                <a:moveTo>
                  <a:pt x="0" y="0"/>
                </a:moveTo>
                <a:lnTo>
                  <a:pt x="3681916" y="0"/>
                </a:lnTo>
                <a:arcTo wR="9525" hR="9525" stAng="16200000" swAng="5400000"/>
                <a:lnTo>
                  <a:pt x="3691440" y="5195689"/>
                </a:lnTo>
                <a:arcTo wR="9525" hR="9525" stAng="0" swAng="5400000"/>
                <a:lnTo>
                  <a:pt x="0" y="520521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</p:spPr>
      </p:sp>
      <p:sp>
        <p:nvSpPr>
          <p:cNvPr id="15" name="Text 13"/>
          <p:cNvSpPr/>
          <p:nvPr/>
        </p:nvSpPr>
        <p:spPr>
          <a:xfrm>
            <a:off x="8195462" y="1525786"/>
            <a:ext cx="3437447" cy="1815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0" spc="93" dirty="0">
                <a:solidFill>
                  <a:srgbClr val="D5D5D5"/>
                </a:solidFill>
                <a:latin typeface="Fira Mono Medium" panose="020B0609050000020004" pitchFamily="34" charset="0"/>
                <a:ea typeface="Fira Mono Medium" panose="020B0609050000020004" pitchFamily="34" charset="-122"/>
                <a:cs typeface="Fira Mono Medium" panose="020B0609050000020004" pitchFamily="34" charset="-120"/>
              </a:rPr>
              <a:t>CO3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195462" y="1786731"/>
            <a:ext cx="3183453" cy="82272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kern="0" spc="216" dirty="0">
                <a:solidFill>
                  <a:srgbClr val="D5D5D5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ARRAYS AND DATA PROCESSING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195462" y="2798366"/>
            <a:ext cx="397758" cy="31651"/>
          </a:xfrm>
          <a:prstGeom prst="roundRect">
            <a:avLst>
              <a:gd name="adj" fmla="val 49998"/>
            </a:avLst>
          </a:prstGeom>
          <a:solidFill>
            <a:srgbClr val="9BE1FF"/>
          </a:solidFill>
        </p:spPr>
      </p:sp>
      <p:sp>
        <p:nvSpPr>
          <p:cNvPr id="18" name="Text 16"/>
          <p:cNvSpPr/>
          <p:nvPr/>
        </p:nvSpPr>
        <p:spPr>
          <a:xfrm>
            <a:off x="8195462" y="2990453"/>
            <a:ext cx="3183453" cy="172442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Uses arrays to store menu items and prices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Processes data using array indexing and traversal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Maintains order information and calculates the bill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243777" y="1297186"/>
            <a:ext cx="12700" cy="5205214"/>
          </a:xfrm>
          <a:prstGeom prst="rect">
            <a:avLst/>
          </a:prstGeom>
          <a:solidFill>
            <a:srgbClr val="3F3F3F"/>
          </a:solidFill>
        </p:spPr>
      </p:sp>
      <p:sp>
        <p:nvSpPr>
          <p:cNvPr id="20" name="Shape 18"/>
          <p:cNvSpPr/>
          <p:nvPr/>
        </p:nvSpPr>
        <p:spPr>
          <a:xfrm>
            <a:off x="7935119" y="1297186"/>
            <a:ext cx="12700" cy="5205214"/>
          </a:xfrm>
          <a:prstGeom prst="rect">
            <a:avLst/>
          </a:prstGeom>
          <a:solidFill>
            <a:srgbClr val="3F3F3F"/>
          </a:solidFill>
        </p:spPr>
      </p:sp>
      <p:sp>
        <p:nvSpPr>
          <p:cNvPr id="21" name="Text 19"/>
          <p:cNvSpPr/>
          <p:nvPr/>
        </p:nvSpPr>
        <p:spPr>
          <a:xfrm>
            <a:off x="11400743" y="6458545"/>
            <a:ext cx="790952" cy="18930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kern="0" spc="84" dirty="0">
                <a:solidFill>
                  <a:srgbClr val="9D9D9D"/>
                </a:solidFill>
                <a:latin typeface="Fira Mono" panose="020B0509050000020004" pitchFamily="34" charset="0"/>
                <a:ea typeface="Fira Mono" panose="020B0509050000020004" pitchFamily="34" charset="-122"/>
                <a:cs typeface="Fira Mono" panose="020B0509050000020004" pitchFamily="34" charset="-120"/>
              </a:rPr>
              <a:t>04</a:t>
            </a:r>
            <a:endParaRPr lang="en-US" sz="1050" dirty="0"/>
          </a:p>
        </p:txBody>
      </p:sp>
      <p:sp>
        <p:nvSpPr>
          <p:cNvPr id="22" name="Rectangle 21"/>
          <p:cNvSpPr/>
          <p:nvPr/>
        </p:nvSpPr>
        <p:spPr>
          <a:xfrm>
            <a:off x="11102975" y="6435090"/>
            <a:ext cx="1081405" cy="40830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355600"/>
            <a:ext cx="11683708" cy="1815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0" spc="93" dirty="0">
                <a:solidFill>
                  <a:srgbClr val="B5B5B5"/>
                </a:solidFill>
                <a:latin typeface="Fira Mono Medium" panose="020B0609050000020004" pitchFamily="34" charset="0"/>
                <a:ea typeface="Fira Mono Medium" panose="020B0609050000020004" pitchFamily="34" charset="-122"/>
                <a:cs typeface="Fira Mono Medium" panose="020B0609050000020004" pitchFamily="34" charset="-120"/>
              </a:rPr>
              <a:t>ALGORITHM &amp; FLOWCHART · 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7987" y="616545"/>
            <a:ext cx="11251919" cy="3939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2900" kern="0" spc="-35" dirty="0">
                <a:solidFill>
                  <a:srgbClr val="ECECEC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Algorithm &amp; Flowchart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7987" y="1283593"/>
            <a:ext cx="3897017" cy="1980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0" spc="192" dirty="0">
                <a:solidFill>
                  <a:srgbClr val="D5D5D5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ALGORITHM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7987" y="1624509"/>
            <a:ext cx="3897017" cy="44469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18000"/>
              </a:lnSpc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Start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Font typeface="+mj-lt"/>
              <a:buAutoNum type="arabicPeriod" startAt="2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Initialize menu items and prices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Font typeface="+mj-lt"/>
              <a:buAutoNum type="arabicPeriod" startAt="3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Display menu (tiffins and beverages)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Font typeface="+mj-lt"/>
              <a:buAutoNum type="arabicPeriod" startAt="4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Ask for Dine-In / Takeaway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Font typeface="+mj-lt"/>
              <a:buAutoNum type="arabicPeriod" startAt="5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Validate the service type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Font typeface="+mj-lt"/>
              <a:buAutoNum type="arabicPeriod" startAt="6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Enter item serial number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Font typeface="+mj-lt"/>
              <a:buAutoNum type="arabicPeriod" startAt="7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Check if item is available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Font typeface="+mj-lt"/>
              <a:buAutoNum type="arabicPeriod" startAt="8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Add item and update total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Font typeface="+mj-lt"/>
              <a:buAutoNum type="arabicPeriod" startAt="9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Ask for another item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Font typeface="+mj-lt"/>
              <a:buAutoNum type="arabicPeriod" startAt="10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Continue until number &gt; 18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Font typeface="+mj-lt"/>
              <a:buAutoNum type="arabicPeriod" startAt="11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Display order type and items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Font typeface="+mj-lt"/>
              <a:buAutoNum type="arabicPeriod" startAt="12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Show total amount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Font typeface="+mj-lt"/>
              <a:buAutoNum type="arabicPeriod" startAt="13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Display confirmation message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Font typeface="+mj-lt"/>
              <a:buAutoNum type="arabicPeriod" startAt="14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End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862192" y="1283593"/>
            <a:ext cx="6897713" cy="1980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0" spc="192" dirty="0">
                <a:solidFill>
                  <a:srgbClr val="D5D5D5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FLOWCHART LOGIC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62192" y="1624509"/>
            <a:ext cx="6897713" cy="3048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627248" y="1207393"/>
            <a:ext cx="12700" cy="5345807"/>
          </a:xfrm>
          <a:prstGeom prst="rect">
            <a:avLst/>
          </a:prstGeom>
          <a:solidFill>
            <a:srgbClr val="3F3F3F"/>
          </a:solidFill>
        </p:spPr>
      </p:sp>
      <p:sp>
        <p:nvSpPr>
          <p:cNvPr id="9" name="Rectangle 8"/>
          <p:cNvSpPr/>
          <p:nvPr/>
        </p:nvSpPr>
        <p:spPr>
          <a:xfrm>
            <a:off x="10739120" y="5943600"/>
            <a:ext cx="1450975" cy="9144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creenshot (862)"/>
          <p:cNvPicPr>
            <a:picLocks noChangeAspect="1"/>
          </p:cNvPicPr>
          <p:nvPr/>
        </p:nvPicPr>
        <p:blipFill>
          <a:blip r:embed="rId1"/>
          <a:srcRect b="8575"/>
          <a:stretch>
            <a:fillRect/>
          </a:stretch>
        </p:blipFill>
        <p:spPr>
          <a:xfrm>
            <a:off x="0" y="0"/>
            <a:ext cx="12190730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creenshot (863)"/>
          <p:cNvPicPr>
            <a:picLocks noChangeAspect="1"/>
          </p:cNvPicPr>
          <p:nvPr/>
        </p:nvPicPr>
        <p:blipFill>
          <a:blip r:embed="rId1"/>
          <a:srcRect b="8427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2825</Words>
  <Application>WPS Presentation</Application>
  <PresentationFormat>On-screen Show (16:9)</PresentationFormat>
  <Paragraphs>128</Paragraphs>
  <Slides>7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30" baseType="lpstr">
      <vt:lpstr>Arial</vt:lpstr>
      <vt:lpstr>SimSun</vt:lpstr>
      <vt:lpstr>Wingdings</vt:lpstr>
      <vt:lpstr>Michroma</vt:lpstr>
      <vt:lpstr>Michroma</vt:lpstr>
      <vt:lpstr>Michroma</vt:lpstr>
      <vt:lpstr>Exo SemiBold</vt:lpstr>
      <vt:lpstr>Exo SemiBold</vt:lpstr>
      <vt:lpstr>Exo SemiBold</vt:lpstr>
      <vt:lpstr>Exo</vt:lpstr>
      <vt:lpstr>Exo</vt:lpstr>
      <vt:lpstr>Exo</vt:lpstr>
      <vt:lpstr>Fira Mono Medium</vt:lpstr>
      <vt:lpstr>Fira Mono Medium</vt:lpstr>
      <vt:lpstr>Fira Mono Medium</vt:lpstr>
      <vt:lpstr>Fira Mono</vt:lpstr>
      <vt:lpstr>Fira Mono</vt:lpstr>
      <vt:lpstr>Fira Mono</vt:lpstr>
      <vt:lpstr>Calibri</vt:lpstr>
      <vt:lpstr>Microsoft YaHei</vt:lpstr>
      <vt:lpstr>Arial Unicode MS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Tallapragada Piyush Sreeniketh</cp:lastModifiedBy>
  <cp:revision>11</cp:revision>
  <dcterms:created xsi:type="dcterms:W3CDTF">2026-09-28T16:08:00Z</dcterms:created>
  <dcterms:modified xsi:type="dcterms:W3CDTF">2026-09-28T17:18:28Z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F86B5C3369D34000A506964986DB9499_13</vt:lpwstr>
  </property>
  <property fmtid="{D5CDD505-2E9C-101B-9397-08002B2CF9AE}" pid="3" name="KSOProductBuildVer">
    <vt:lpwstr>1033-12.1.0.28485</vt:lpwstr>
  </property>
</Properties>
</file>